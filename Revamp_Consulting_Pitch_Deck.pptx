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80" y="4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8086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950649"/>
            <a:ext cx="57150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2" dirty="0">
                <a:solidFill>
                  <a:srgbClr val="FF66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REVAMP CONSULTING LLC</a:t>
            </a:r>
            <a:endParaRPr lang="en-US" sz="1193" dirty="0"/>
          </a:p>
        </p:txBody>
      </p:sp>
      <p:sp>
        <p:nvSpPr>
          <p:cNvPr id="4" name="Text 1"/>
          <p:cNvSpPr/>
          <p:nvPr/>
        </p:nvSpPr>
        <p:spPr>
          <a:xfrm>
            <a:off x="714375" y="1436424"/>
            <a:ext cx="5715000" cy="1697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731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
Transformation
&amp; Growth</a:t>
            </a:r>
            <a:endParaRPr lang="en-US" sz="3731" dirty="0"/>
          </a:p>
        </p:txBody>
      </p:sp>
      <p:sp>
        <p:nvSpPr>
          <p:cNvPr id="5" name="Text 2"/>
          <p:cNvSpPr/>
          <p:nvPr/>
        </p:nvSpPr>
        <p:spPr>
          <a:xfrm>
            <a:off x="714375" y="3276637"/>
            <a:ext cx="571500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Turning Complexity into Competitive Advantage</a:t>
            </a:r>
            <a:endParaRPr lang="en-US" sz="1704" dirty="0"/>
          </a:p>
        </p:txBody>
      </p:sp>
      <p:sp>
        <p:nvSpPr>
          <p:cNvPr id="6" name="Text 3"/>
          <p:cNvSpPr/>
          <p:nvPr/>
        </p:nvSpPr>
        <p:spPr>
          <a:xfrm>
            <a:off x="714375" y="4021373"/>
            <a:ext cx="178593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Adekunle Olusanya Oluwole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2643188" y="4017801"/>
            <a:ext cx="24503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| Principal Strategist &amp; Managing Partner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714375" y="4722019"/>
            <a:ext cx="202525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668CB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CONFIDENTIAL &amp; PROPRIETARY • 2026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8625"/>
            <a:ext cx="9144000" cy="7072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Shape 1"/>
          <p:cNvSpPr/>
          <p:nvPr/>
        </p:nvSpPr>
        <p:spPr>
          <a:xfrm>
            <a:off x="0" y="428625"/>
            <a:ext cx="71438" cy="707231"/>
          </a:xfrm>
          <a:prstGeom prst="rect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NAVIGATING COMPLEXITY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901898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Strategic Ambiguity to Executable Growth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1421606"/>
            <a:ext cx="3786188" cy="3721894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Shape 5"/>
          <p:cNvSpPr/>
          <p:nvPr/>
        </p:nvSpPr>
        <p:spPr>
          <a:xfrm>
            <a:off x="571500" y="1421606"/>
            <a:ext cx="3786188" cy="35719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724323"/>
            <a:ext cx="200025" cy="2000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64431" y="1707356"/>
            <a:ext cx="129123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Challenge</a:t>
            </a:r>
            <a:endParaRPr lang="en-US" sz="1397" dirty="0"/>
          </a:p>
        </p:txBody>
      </p:sp>
      <p:sp>
        <p:nvSpPr>
          <p:cNvPr id="11" name="Text 7"/>
          <p:cNvSpPr/>
          <p:nvPr/>
        </p:nvSpPr>
        <p:spPr>
          <a:xfrm>
            <a:off x="964406" y="2155627"/>
            <a:ext cx="310753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Growth Stagnation</a:t>
            </a:r>
            <a:endParaRPr lang="en-US" sz="987" dirty="0"/>
          </a:p>
        </p:txBody>
      </p:sp>
      <p:sp>
        <p:nvSpPr>
          <p:cNvPr id="12" name="Text 8"/>
          <p:cNvSpPr/>
          <p:nvPr/>
        </p:nvSpPr>
        <p:spPr>
          <a:xfrm>
            <a:off x="964406" y="2359223"/>
            <a:ext cx="310753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plateaus despite increased effort; inability to unlock new market segments or product lines.</a:t>
            </a:r>
            <a:endParaRPr lang="en-US" sz="834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916436"/>
            <a:ext cx="214313" cy="1714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8719" y="2880717"/>
            <a:ext cx="289321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Operational Inefficiency</a:t>
            </a:r>
            <a:endParaRPr lang="en-US" sz="987" dirty="0"/>
          </a:p>
        </p:txBody>
      </p:sp>
      <p:sp>
        <p:nvSpPr>
          <p:cNvPr id="15" name="Text 10"/>
          <p:cNvSpPr/>
          <p:nvPr/>
        </p:nvSpPr>
        <p:spPr>
          <a:xfrm>
            <a:off x="1178719" y="3084314"/>
            <a:ext cx="28932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Rising costs, process bottlenecks, and resource misalignment draining profitability.</a:t>
            </a:r>
            <a:endParaRPr lang="en-US" sz="834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641527"/>
            <a:ext cx="171450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35856" y="3605808"/>
            <a:ext cx="293608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Ambiguity</a:t>
            </a:r>
            <a:endParaRPr lang="en-US" sz="987" dirty="0"/>
          </a:p>
        </p:txBody>
      </p:sp>
      <p:sp>
        <p:nvSpPr>
          <p:cNvPr id="18" name="Text 12"/>
          <p:cNvSpPr/>
          <p:nvPr/>
        </p:nvSpPr>
        <p:spPr>
          <a:xfrm>
            <a:off x="1135856" y="3809405"/>
            <a:ext cx="29360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Lack of clear vision or roadmap; reactive decision-making instead of proactive planning.</a:t>
            </a:r>
            <a:endParaRPr lang="en-US" sz="834" dirty="0"/>
          </a:p>
        </p:txBody>
      </p:sp>
      <p:sp>
        <p:nvSpPr>
          <p:cNvPr id="19" name="Shape 13"/>
          <p:cNvSpPr/>
          <p:nvPr/>
        </p:nvSpPr>
        <p:spPr>
          <a:xfrm>
            <a:off x="4786313" y="1421606"/>
            <a:ext cx="3786188" cy="3721894"/>
          </a:xfrm>
          <a:prstGeom prst="rect">
            <a:avLst/>
          </a:prstGeom>
          <a:solidFill>
            <a:srgbClr val="E6F0FF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0" name="Shape 14"/>
          <p:cNvSpPr/>
          <p:nvPr/>
        </p:nvSpPr>
        <p:spPr>
          <a:xfrm>
            <a:off x="4786313" y="1421606"/>
            <a:ext cx="3786188" cy="35719"/>
          </a:xfrm>
          <a:prstGeom prst="rect">
            <a:avLst/>
          </a:prstGeom>
          <a:solidFill>
            <a:srgbClr val="009933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2063" y="1724323"/>
            <a:ext cx="200025" cy="20002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379244" y="1707356"/>
            <a:ext cx="191809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Revamp Solution</a:t>
            </a:r>
            <a:endParaRPr lang="en-US" sz="1397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2063" y="2191345"/>
            <a:ext cx="171450" cy="17145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350669" y="2155627"/>
            <a:ext cx="293608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Turnkey Strategy Design</a:t>
            </a:r>
            <a:endParaRPr lang="en-US" sz="987" dirty="0"/>
          </a:p>
        </p:txBody>
      </p:sp>
      <p:sp>
        <p:nvSpPr>
          <p:cNvPr id="25" name="Text 17"/>
          <p:cNvSpPr/>
          <p:nvPr/>
        </p:nvSpPr>
        <p:spPr>
          <a:xfrm>
            <a:off x="5350669" y="2359223"/>
            <a:ext cx="29360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End-to-end strategy development from market diagnosis to executable roadmap.</a:t>
            </a:r>
            <a:endParaRPr lang="en-US" sz="834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2063" y="2916436"/>
            <a:ext cx="192881" cy="17145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372100" y="2880717"/>
            <a:ext cx="2914650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Data-Driven Execution</a:t>
            </a:r>
            <a:endParaRPr lang="en-US" sz="987" dirty="0"/>
          </a:p>
        </p:txBody>
      </p:sp>
      <p:sp>
        <p:nvSpPr>
          <p:cNvPr id="28" name="Text 19"/>
          <p:cNvSpPr/>
          <p:nvPr/>
        </p:nvSpPr>
        <p:spPr>
          <a:xfrm>
            <a:off x="5372100" y="3084314"/>
            <a:ext cx="29146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Advanced financial modeling and analytics to de-risk decisions and optimize capital allocation.</a:t>
            </a:r>
            <a:endParaRPr lang="en-US" sz="834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2063" y="3641527"/>
            <a:ext cx="214313" cy="17145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393531" y="3605808"/>
            <a:ext cx="289321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Operational Transformation</a:t>
            </a:r>
            <a:endParaRPr lang="en-US" sz="987" dirty="0"/>
          </a:p>
        </p:txBody>
      </p:sp>
      <p:sp>
        <p:nvSpPr>
          <p:cNvPr id="31" name="Text 21"/>
          <p:cNvSpPr/>
          <p:nvPr/>
        </p:nvSpPr>
        <p:spPr>
          <a:xfrm>
            <a:off x="5393531" y="3809405"/>
            <a:ext cx="289321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44444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 redesign and organizational restructuring to drive efficiency and scalability.</a:t>
            </a:r>
            <a:endParaRPr lang="en-US" sz="834" dirty="0"/>
          </a:p>
        </p:txBody>
      </p:sp>
      <p:sp>
        <p:nvSpPr>
          <p:cNvPr id="32" name="Text 22"/>
          <p:cNvSpPr/>
          <p:nvPr/>
        </p:nvSpPr>
        <p:spPr>
          <a:xfrm>
            <a:off x="571500" y="4827389"/>
            <a:ext cx="96441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02</a:t>
            </a:r>
            <a:endParaRPr lang="en-US" sz="621" dirty="0"/>
          </a:p>
        </p:txBody>
      </p:sp>
      <p:sp>
        <p:nvSpPr>
          <p:cNvPr id="33" name="Text 23"/>
          <p:cNvSpPr/>
          <p:nvPr/>
        </p:nvSpPr>
        <p:spPr>
          <a:xfrm>
            <a:off x="7384852" y="4827389"/>
            <a:ext cx="1187648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1" dirty="0">
                <a:solidFill>
                  <a:srgbClr val="9999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REVAMP CONSULTING LLC</a:t>
            </a:r>
            <a:endParaRPr lang="en-US" sz="62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8625"/>
            <a:ext cx="9144000" cy="7072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Shape 1"/>
          <p:cNvSpPr/>
          <p:nvPr/>
        </p:nvSpPr>
        <p:spPr>
          <a:xfrm>
            <a:off x="0" y="428625"/>
            <a:ext cx="71438" cy="707231"/>
          </a:xfrm>
          <a:prstGeom prst="rect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SERVICES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901898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End-to-End Solutions for Business Growth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1421606"/>
            <a:ext cx="1893094" cy="1941649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Shape 5"/>
          <p:cNvSpPr/>
          <p:nvPr/>
        </p:nvSpPr>
        <p:spPr>
          <a:xfrm>
            <a:off x="571500" y="1421606"/>
            <a:ext cx="1893094" cy="28575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564481"/>
            <a:ext cx="17145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375" y="1900238"/>
            <a:ext cx="1607344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Strategy Design &amp; Execution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714375" y="2280252"/>
            <a:ext cx="1607344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Turnkey strategy development from market diagnosis to executable roadmap. Vision alignment and implementation support.</a:t>
            </a:r>
            <a:endParaRPr lang="en-US" sz="727" dirty="0"/>
          </a:p>
        </p:txBody>
      </p:sp>
      <p:sp>
        <p:nvSpPr>
          <p:cNvPr id="12" name="Shape 8"/>
          <p:cNvSpPr/>
          <p:nvPr/>
        </p:nvSpPr>
        <p:spPr>
          <a:xfrm>
            <a:off x="2607469" y="1421606"/>
            <a:ext cx="1893094" cy="1927361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3" name="Shape 9"/>
          <p:cNvSpPr/>
          <p:nvPr/>
        </p:nvSpPr>
        <p:spPr>
          <a:xfrm>
            <a:off x="2607469" y="1421606"/>
            <a:ext cx="1893094" cy="28575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0344" y="1564481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750344" y="1900238"/>
            <a:ext cx="1096566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Financial Modeling</a:t>
            </a:r>
            <a:endParaRPr lang="en-US" sz="885" dirty="0"/>
          </a:p>
        </p:txBody>
      </p:sp>
      <p:sp>
        <p:nvSpPr>
          <p:cNvPr id="16" name="Text 11"/>
          <p:cNvSpPr/>
          <p:nvPr/>
        </p:nvSpPr>
        <p:spPr>
          <a:xfrm>
            <a:off x="2750344" y="2125963"/>
            <a:ext cx="160734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Sophisticated models for investment decisions, valuation (DCF), scenario analysis, and unit economics.</a:t>
            </a:r>
            <a:endParaRPr lang="en-US" sz="727" dirty="0"/>
          </a:p>
        </p:txBody>
      </p:sp>
      <p:sp>
        <p:nvSpPr>
          <p:cNvPr id="17" name="Shape 12"/>
          <p:cNvSpPr/>
          <p:nvPr/>
        </p:nvSpPr>
        <p:spPr>
          <a:xfrm>
            <a:off x="4643438" y="1421606"/>
            <a:ext cx="1893094" cy="1927361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8" name="Shape 13"/>
          <p:cNvSpPr/>
          <p:nvPr/>
        </p:nvSpPr>
        <p:spPr>
          <a:xfrm>
            <a:off x="4643438" y="1421606"/>
            <a:ext cx="1893094" cy="28575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1564481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86313" y="1900238"/>
            <a:ext cx="969764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Startup Advisory</a:t>
            </a:r>
            <a:endParaRPr lang="en-US" sz="885" dirty="0"/>
          </a:p>
        </p:txBody>
      </p:sp>
      <p:sp>
        <p:nvSpPr>
          <p:cNvPr id="21" name="Text 15"/>
          <p:cNvSpPr/>
          <p:nvPr/>
        </p:nvSpPr>
        <p:spPr>
          <a:xfrm>
            <a:off x="4786313" y="2125963"/>
            <a:ext cx="160734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Hands-on mentorship for high-growth ventures covering GTM strategy, fundraising, and scaling operations.</a:t>
            </a:r>
            <a:endParaRPr lang="en-US" sz="727" dirty="0"/>
          </a:p>
        </p:txBody>
      </p:sp>
      <p:sp>
        <p:nvSpPr>
          <p:cNvPr id="22" name="Shape 16"/>
          <p:cNvSpPr/>
          <p:nvPr/>
        </p:nvSpPr>
        <p:spPr>
          <a:xfrm>
            <a:off x="6679406" y="1421606"/>
            <a:ext cx="1893094" cy="1927361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3" name="Shape 17"/>
          <p:cNvSpPr/>
          <p:nvPr/>
        </p:nvSpPr>
        <p:spPr>
          <a:xfrm>
            <a:off x="6679406" y="1421606"/>
            <a:ext cx="1893094" cy="28575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2281" y="1564481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822281" y="1900238"/>
            <a:ext cx="1207294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Management</a:t>
            </a:r>
            <a:endParaRPr lang="en-US" sz="885" dirty="0"/>
          </a:p>
        </p:txBody>
      </p:sp>
      <p:sp>
        <p:nvSpPr>
          <p:cNvPr id="26" name="Text 19"/>
          <p:cNvSpPr/>
          <p:nvPr/>
        </p:nvSpPr>
        <p:spPr>
          <a:xfrm>
            <a:off x="6822281" y="2125963"/>
            <a:ext cx="160734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Agile/PMP-based delivery management for complex initiatives, ensuring on-time, on-budget execution.</a:t>
            </a:r>
            <a:endParaRPr lang="en-US" sz="727" dirty="0"/>
          </a:p>
        </p:txBody>
      </p:sp>
      <p:sp>
        <p:nvSpPr>
          <p:cNvPr id="27" name="Shape 20"/>
          <p:cNvSpPr/>
          <p:nvPr/>
        </p:nvSpPr>
        <p:spPr>
          <a:xfrm>
            <a:off x="571500" y="3491843"/>
            <a:ext cx="1893094" cy="165165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8" name="Shape 21"/>
          <p:cNvSpPr/>
          <p:nvPr/>
        </p:nvSpPr>
        <p:spPr>
          <a:xfrm>
            <a:off x="571500" y="3491843"/>
            <a:ext cx="1893094" cy="28575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375" y="3634718"/>
            <a:ext cx="228600" cy="2286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14375" y="3970474"/>
            <a:ext cx="1051917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Sales &amp; Marketing</a:t>
            </a:r>
            <a:endParaRPr lang="en-US" sz="885" dirty="0"/>
          </a:p>
        </p:txBody>
      </p:sp>
      <p:sp>
        <p:nvSpPr>
          <p:cNvPr id="31" name="Text 23"/>
          <p:cNvSpPr/>
          <p:nvPr/>
        </p:nvSpPr>
        <p:spPr>
          <a:xfrm>
            <a:off x="714375" y="4196200"/>
            <a:ext cx="160734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Sales architecture design, incentive restructuring, and go-to-market strategy for revenue growth.</a:t>
            </a:r>
            <a:endParaRPr lang="en-US" sz="727" dirty="0"/>
          </a:p>
        </p:txBody>
      </p:sp>
      <p:sp>
        <p:nvSpPr>
          <p:cNvPr id="32" name="Shape 24"/>
          <p:cNvSpPr/>
          <p:nvPr/>
        </p:nvSpPr>
        <p:spPr>
          <a:xfrm>
            <a:off x="2607469" y="3491843"/>
            <a:ext cx="1893094" cy="165165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3" name="Shape 25"/>
          <p:cNvSpPr/>
          <p:nvPr/>
        </p:nvSpPr>
        <p:spPr>
          <a:xfrm>
            <a:off x="2607469" y="3491843"/>
            <a:ext cx="1893094" cy="28575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50344" y="3634718"/>
            <a:ext cx="285750" cy="2286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2750344" y="3970474"/>
            <a:ext cx="1507331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Software Product Delivery</a:t>
            </a:r>
            <a:endParaRPr lang="en-US" sz="885" dirty="0"/>
          </a:p>
        </p:txBody>
      </p:sp>
      <p:sp>
        <p:nvSpPr>
          <p:cNvPr id="36" name="Text 27"/>
          <p:cNvSpPr/>
          <p:nvPr/>
        </p:nvSpPr>
        <p:spPr>
          <a:xfrm>
            <a:off x="2750344" y="4196200"/>
            <a:ext cx="1607344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End-to-end product management from requirements to launch for tech and digital platforms.</a:t>
            </a:r>
            <a:endParaRPr lang="en-US" sz="727" dirty="0"/>
          </a:p>
        </p:txBody>
      </p:sp>
      <p:sp>
        <p:nvSpPr>
          <p:cNvPr id="37" name="Shape 28"/>
          <p:cNvSpPr/>
          <p:nvPr/>
        </p:nvSpPr>
        <p:spPr>
          <a:xfrm>
            <a:off x="4643438" y="3491843"/>
            <a:ext cx="1893094" cy="1651657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8" name="Shape 29"/>
          <p:cNvSpPr/>
          <p:nvPr/>
        </p:nvSpPr>
        <p:spPr>
          <a:xfrm>
            <a:off x="4643438" y="3491843"/>
            <a:ext cx="1893094" cy="28575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6313" y="3649005"/>
            <a:ext cx="285750" cy="22860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4786313" y="3984761"/>
            <a:ext cx="1060847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Executive Training</a:t>
            </a:r>
            <a:endParaRPr lang="en-US" sz="885" dirty="0"/>
          </a:p>
        </p:txBody>
      </p:sp>
      <p:sp>
        <p:nvSpPr>
          <p:cNvPr id="41" name="Text 31"/>
          <p:cNvSpPr/>
          <p:nvPr/>
        </p:nvSpPr>
        <p:spPr>
          <a:xfrm>
            <a:off x="4786313" y="4210487"/>
            <a:ext cx="160734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Capacity building workshops on strategy, financial modeling, and leadership for management teams.</a:t>
            </a:r>
            <a:endParaRPr lang="en-US" sz="727" dirty="0"/>
          </a:p>
        </p:txBody>
      </p:sp>
      <p:sp>
        <p:nvSpPr>
          <p:cNvPr id="42" name="Shape 32"/>
          <p:cNvSpPr/>
          <p:nvPr/>
        </p:nvSpPr>
        <p:spPr>
          <a:xfrm>
            <a:off x="6679406" y="3506130"/>
            <a:ext cx="1893094" cy="1637370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3" name="Shape 33"/>
          <p:cNvSpPr/>
          <p:nvPr/>
        </p:nvSpPr>
        <p:spPr>
          <a:xfrm>
            <a:off x="6679406" y="3506130"/>
            <a:ext cx="1893094" cy="28575"/>
          </a:xfrm>
          <a:prstGeom prst="rect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22281" y="3649005"/>
            <a:ext cx="285750" cy="22860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6822281" y="3984761"/>
            <a:ext cx="1023342" cy="1542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 Solutions</a:t>
            </a:r>
            <a:endParaRPr lang="en-US" sz="885" dirty="0"/>
          </a:p>
        </p:txBody>
      </p:sp>
      <p:sp>
        <p:nvSpPr>
          <p:cNvPr id="46" name="Text 35"/>
          <p:cNvSpPr/>
          <p:nvPr/>
        </p:nvSpPr>
        <p:spPr>
          <a:xfrm>
            <a:off x="6822281" y="4210487"/>
            <a:ext cx="1607344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Tailored consulting engagements designed to meet your specific organizational needs.</a:t>
            </a:r>
            <a:endParaRPr lang="en-US" sz="727" dirty="0"/>
          </a:p>
        </p:txBody>
      </p:sp>
      <p:sp>
        <p:nvSpPr>
          <p:cNvPr id="47" name="Text 36"/>
          <p:cNvSpPr/>
          <p:nvPr/>
        </p:nvSpPr>
        <p:spPr>
          <a:xfrm>
            <a:off x="571500" y="4827389"/>
            <a:ext cx="96441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03</a:t>
            </a:r>
            <a:endParaRPr lang="en-US" sz="621" dirty="0"/>
          </a:p>
        </p:txBody>
      </p:sp>
      <p:sp>
        <p:nvSpPr>
          <p:cNvPr id="48" name="Text 37"/>
          <p:cNvSpPr/>
          <p:nvPr/>
        </p:nvSpPr>
        <p:spPr>
          <a:xfrm>
            <a:off x="7384852" y="4827389"/>
            <a:ext cx="1187648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1" dirty="0">
                <a:solidFill>
                  <a:srgbClr val="9999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REVAMP CONSULTING LLC</a:t>
            </a:r>
            <a:endParaRPr lang="en-US" sz="62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57188"/>
            <a:ext cx="9144000" cy="61972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Shape 1"/>
          <p:cNvSpPr/>
          <p:nvPr/>
        </p:nvSpPr>
        <p:spPr>
          <a:xfrm>
            <a:off x="0" y="357188"/>
            <a:ext cx="71438" cy="619720"/>
          </a:xfrm>
          <a:prstGeom prst="rect">
            <a:avLst/>
          </a:prstGeom>
          <a:solidFill>
            <a:srgbClr val="0055A4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2"/>
          <p:cNvSpPr/>
          <p:nvPr/>
        </p:nvSpPr>
        <p:spPr>
          <a:xfrm>
            <a:off x="571500" y="357188"/>
            <a:ext cx="8001000" cy="3679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26" b="1" dirty="0">
                <a:solidFill>
                  <a:srgbClr val="00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PROVEN IMPACT</a:t>
            </a:r>
            <a:endParaRPr lang="en-US" sz="2226" dirty="0"/>
          </a:p>
        </p:txBody>
      </p:sp>
      <p:sp>
        <p:nvSpPr>
          <p:cNvPr id="6" name="Text 3"/>
          <p:cNvSpPr/>
          <p:nvPr/>
        </p:nvSpPr>
        <p:spPr>
          <a:xfrm>
            <a:off x="571500" y="782241"/>
            <a:ext cx="8001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Selected Case Studies &amp; Success Stories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71500" y="1155502"/>
            <a:ext cx="2571750" cy="1533227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Shape 5"/>
          <p:cNvSpPr/>
          <p:nvPr/>
        </p:nvSpPr>
        <p:spPr>
          <a:xfrm>
            <a:off x="571500" y="1155502"/>
            <a:ext cx="2571750" cy="28575"/>
          </a:xfrm>
          <a:prstGeom prst="rect">
            <a:avLst/>
          </a:prstGeom>
          <a:solidFill>
            <a:srgbClr val="0055A4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9" name="Text 6"/>
          <p:cNvSpPr/>
          <p:nvPr/>
        </p:nvSpPr>
        <p:spPr>
          <a:xfrm>
            <a:off x="678656" y="1262658"/>
            <a:ext cx="2357438" cy="176808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QORAY Mobility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678656" y="1475184"/>
            <a:ext cx="2357438" cy="713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roadmap for EV value chain: ride-hailing, charging, battery swapping, mass transit.</a:t>
            </a:r>
            <a:endParaRPr lang="en-US" sz="621" dirty="0"/>
          </a:p>
        </p:txBody>
      </p:sp>
      <p:sp>
        <p:nvSpPr>
          <p:cNvPr id="11" name="Shape 8"/>
          <p:cNvSpPr/>
          <p:nvPr/>
        </p:nvSpPr>
        <p:spPr>
          <a:xfrm>
            <a:off x="678656" y="2245816"/>
            <a:ext cx="2357438" cy="335756"/>
          </a:xfrm>
          <a:prstGeom prst="rect">
            <a:avLst/>
          </a:prstGeom>
          <a:solidFill>
            <a:srgbClr val="E6F0F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2" name="Text 9"/>
          <p:cNvSpPr/>
          <p:nvPr/>
        </p:nvSpPr>
        <p:spPr>
          <a:xfrm>
            <a:off x="735806" y="2302966"/>
            <a:ext cx="224313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055A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OUTCOME</a:t>
            </a:r>
            <a:endParaRPr lang="en-US" sz="485" dirty="0"/>
          </a:p>
        </p:txBody>
      </p:sp>
      <p:sp>
        <p:nvSpPr>
          <p:cNvPr id="13" name="Text 10"/>
          <p:cNvSpPr/>
          <p:nvPr/>
        </p:nvSpPr>
        <p:spPr>
          <a:xfrm>
            <a:off x="735806" y="2415480"/>
            <a:ext cx="2243138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17,000 units deployed; ₦50M+ portfolio.</a:t>
            </a:r>
            <a:endParaRPr lang="en-US" sz="634" dirty="0"/>
          </a:p>
        </p:txBody>
      </p:sp>
      <p:sp>
        <p:nvSpPr>
          <p:cNvPr id="14" name="Shape 11"/>
          <p:cNvSpPr/>
          <p:nvPr/>
        </p:nvSpPr>
        <p:spPr>
          <a:xfrm>
            <a:off x="3286125" y="1155502"/>
            <a:ext cx="2571750" cy="1533227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5" name="Shape 12"/>
          <p:cNvSpPr/>
          <p:nvPr/>
        </p:nvSpPr>
        <p:spPr>
          <a:xfrm>
            <a:off x="3286125" y="1155502"/>
            <a:ext cx="2571750" cy="28575"/>
          </a:xfrm>
          <a:prstGeom prst="rect">
            <a:avLst/>
          </a:prstGeom>
          <a:solidFill>
            <a:srgbClr val="0055A4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6" name="Text 13"/>
          <p:cNvSpPr/>
          <p:nvPr/>
        </p:nvSpPr>
        <p:spPr>
          <a:xfrm>
            <a:off x="3393281" y="1262658"/>
            <a:ext cx="2357438" cy="176808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Sovereign Finance Group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3393281" y="1475184"/>
            <a:ext cx="2357438" cy="713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Developed 5-year group strategy to unify Finance House, MFB, and Asset Management.</a:t>
            </a:r>
            <a:endParaRPr lang="en-US" sz="621" dirty="0"/>
          </a:p>
        </p:txBody>
      </p:sp>
      <p:sp>
        <p:nvSpPr>
          <p:cNvPr id="18" name="Shape 15"/>
          <p:cNvSpPr/>
          <p:nvPr/>
        </p:nvSpPr>
        <p:spPr>
          <a:xfrm>
            <a:off x="3393281" y="2245816"/>
            <a:ext cx="2357438" cy="335756"/>
          </a:xfrm>
          <a:prstGeom prst="rect">
            <a:avLst/>
          </a:prstGeom>
          <a:solidFill>
            <a:srgbClr val="E6F0F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9" name="Text 16"/>
          <p:cNvSpPr/>
          <p:nvPr/>
        </p:nvSpPr>
        <p:spPr>
          <a:xfrm>
            <a:off x="3450431" y="2302966"/>
            <a:ext cx="224313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055A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OUTCOME</a:t>
            </a:r>
            <a:endParaRPr lang="en-US" sz="485" dirty="0"/>
          </a:p>
        </p:txBody>
      </p:sp>
      <p:sp>
        <p:nvSpPr>
          <p:cNvPr id="20" name="Text 17"/>
          <p:cNvSpPr/>
          <p:nvPr/>
        </p:nvSpPr>
        <p:spPr>
          <a:xfrm>
            <a:off x="3450431" y="2415480"/>
            <a:ext cx="2243138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₦61B → ₦500B growth roadmap approved.</a:t>
            </a:r>
            <a:endParaRPr lang="en-US" sz="634" dirty="0"/>
          </a:p>
        </p:txBody>
      </p:sp>
      <p:sp>
        <p:nvSpPr>
          <p:cNvPr id="21" name="Shape 18"/>
          <p:cNvSpPr/>
          <p:nvPr/>
        </p:nvSpPr>
        <p:spPr>
          <a:xfrm>
            <a:off x="6000750" y="1155502"/>
            <a:ext cx="2571750" cy="1533227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2" name="Shape 19"/>
          <p:cNvSpPr/>
          <p:nvPr/>
        </p:nvSpPr>
        <p:spPr>
          <a:xfrm>
            <a:off x="6000750" y="1155502"/>
            <a:ext cx="2571750" cy="28575"/>
          </a:xfrm>
          <a:prstGeom prst="rect">
            <a:avLst/>
          </a:prstGeom>
          <a:solidFill>
            <a:srgbClr val="0055A4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3" name="Text 20"/>
          <p:cNvSpPr/>
          <p:nvPr/>
        </p:nvSpPr>
        <p:spPr>
          <a:xfrm>
            <a:off x="6107906" y="1262658"/>
            <a:ext cx="2357438" cy="176808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Cornerstone Insurance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6107906" y="1475184"/>
            <a:ext cx="2357438" cy="713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Strategic repositioning and operational efficiency redesign for competitive advantage.</a:t>
            </a:r>
            <a:endParaRPr lang="en-US" sz="621" dirty="0"/>
          </a:p>
        </p:txBody>
      </p:sp>
      <p:sp>
        <p:nvSpPr>
          <p:cNvPr id="25" name="Shape 22"/>
          <p:cNvSpPr/>
          <p:nvPr/>
        </p:nvSpPr>
        <p:spPr>
          <a:xfrm>
            <a:off x="6107906" y="2245816"/>
            <a:ext cx="2357438" cy="335756"/>
          </a:xfrm>
          <a:prstGeom prst="rect">
            <a:avLst/>
          </a:prstGeom>
          <a:solidFill>
            <a:srgbClr val="E6F0F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6" name="Text 23"/>
          <p:cNvSpPr/>
          <p:nvPr/>
        </p:nvSpPr>
        <p:spPr>
          <a:xfrm>
            <a:off x="6165056" y="2302966"/>
            <a:ext cx="224313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055A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OUTCOME</a:t>
            </a:r>
            <a:endParaRPr lang="en-US" sz="485" dirty="0"/>
          </a:p>
        </p:txBody>
      </p:sp>
      <p:sp>
        <p:nvSpPr>
          <p:cNvPr id="27" name="Text 24"/>
          <p:cNvSpPr/>
          <p:nvPr/>
        </p:nvSpPr>
        <p:spPr>
          <a:xfrm>
            <a:off x="6165056" y="2415480"/>
            <a:ext cx="2243138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3-year strategic roadmap approved.</a:t>
            </a:r>
            <a:endParaRPr lang="en-US" sz="634" dirty="0"/>
          </a:p>
        </p:txBody>
      </p:sp>
      <p:sp>
        <p:nvSpPr>
          <p:cNvPr id="28" name="Shape 25"/>
          <p:cNvSpPr/>
          <p:nvPr/>
        </p:nvSpPr>
        <p:spPr>
          <a:xfrm>
            <a:off x="571500" y="2831604"/>
            <a:ext cx="2571750" cy="1533227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9" name="Shape 26"/>
          <p:cNvSpPr/>
          <p:nvPr/>
        </p:nvSpPr>
        <p:spPr>
          <a:xfrm>
            <a:off x="571500" y="2831604"/>
            <a:ext cx="2571750" cy="28575"/>
          </a:xfrm>
          <a:prstGeom prst="rect">
            <a:avLst/>
          </a:prstGeom>
          <a:solidFill>
            <a:srgbClr val="0055A4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0" name="Text 27"/>
          <p:cNvSpPr/>
          <p:nvPr/>
        </p:nvSpPr>
        <p:spPr>
          <a:xfrm>
            <a:off x="678656" y="2938760"/>
            <a:ext cx="2357438" cy="176808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Assetium Capital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678656" y="3151287"/>
            <a:ext cx="2357438" cy="713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Designed SEC-compliant policy framework for regulated fintech operations.</a:t>
            </a:r>
            <a:endParaRPr lang="en-US" sz="621" dirty="0"/>
          </a:p>
        </p:txBody>
      </p:sp>
      <p:sp>
        <p:nvSpPr>
          <p:cNvPr id="32" name="Shape 29"/>
          <p:cNvSpPr/>
          <p:nvPr/>
        </p:nvSpPr>
        <p:spPr>
          <a:xfrm>
            <a:off x="678656" y="3921919"/>
            <a:ext cx="2357438" cy="335756"/>
          </a:xfrm>
          <a:prstGeom prst="rect">
            <a:avLst/>
          </a:prstGeom>
          <a:solidFill>
            <a:srgbClr val="E6F0F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3" name="Text 30"/>
          <p:cNvSpPr/>
          <p:nvPr/>
        </p:nvSpPr>
        <p:spPr>
          <a:xfrm>
            <a:off x="735806" y="3979069"/>
            <a:ext cx="224313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055A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OUTCOME</a:t>
            </a:r>
            <a:endParaRPr lang="en-US" sz="485" dirty="0"/>
          </a:p>
        </p:txBody>
      </p:sp>
      <p:sp>
        <p:nvSpPr>
          <p:cNvPr id="34" name="Text 31"/>
          <p:cNvSpPr/>
          <p:nvPr/>
        </p:nvSpPr>
        <p:spPr>
          <a:xfrm>
            <a:off x="735806" y="4091583"/>
            <a:ext cx="2243138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Regulatory compliance achieved.</a:t>
            </a:r>
            <a:endParaRPr lang="en-US" sz="634" dirty="0"/>
          </a:p>
        </p:txBody>
      </p:sp>
      <p:sp>
        <p:nvSpPr>
          <p:cNvPr id="35" name="Shape 32"/>
          <p:cNvSpPr/>
          <p:nvPr/>
        </p:nvSpPr>
        <p:spPr>
          <a:xfrm>
            <a:off x="3286125" y="2831604"/>
            <a:ext cx="2571750" cy="1533227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6" name="Shape 33"/>
          <p:cNvSpPr/>
          <p:nvPr/>
        </p:nvSpPr>
        <p:spPr>
          <a:xfrm>
            <a:off x="3286125" y="2831604"/>
            <a:ext cx="2571750" cy="28575"/>
          </a:xfrm>
          <a:prstGeom prst="rect">
            <a:avLst/>
          </a:prstGeom>
          <a:solidFill>
            <a:srgbClr val="0055A4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7" name="Text 34"/>
          <p:cNvSpPr/>
          <p:nvPr/>
        </p:nvSpPr>
        <p:spPr>
          <a:xfrm>
            <a:off x="3393281" y="2938760"/>
            <a:ext cx="2357438" cy="176808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JV Interiors</a:t>
            </a:r>
            <a:endParaRPr lang="en-US" sz="784" dirty="0"/>
          </a:p>
        </p:txBody>
      </p:sp>
      <p:sp>
        <p:nvSpPr>
          <p:cNvPr id="38" name="Text 35"/>
          <p:cNvSpPr/>
          <p:nvPr/>
        </p:nvSpPr>
        <p:spPr>
          <a:xfrm>
            <a:off x="3393281" y="3151287"/>
            <a:ext cx="2357438" cy="713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Sales transformation advisory, incentive redesign, and performance management.</a:t>
            </a:r>
            <a:endParaRPr lang="en-US" sz="621" dirty="0"/>
          </a:p>
        </p:txBody>
      </p:sp>
      <p:sp>
        <p:nvSpPr>
          <p:cNvPr id="39" name="Shape 36"/>
          <p:cNvSpPr/>
          <p:nvPr/>
        </p:nvSpPr>
        <p:spPr>
          <a:xfrm>
            <a:off x="3393281" y="3921919"/>
            <a:ext cx="2357438" cy="335756"/>
          </a:xfrm>
          <a:prstGeom prst="rect">
            <a:avLst/>
          </a:prstGeom>
          <a:solidFill>
            <a:srgbClr val="E6F0F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0" name="Text 37"/>
          <p:cNvSpPr/>
          <p:nvPr/>
        </p:nvSpPr>
        <p:spPr>
          <a:xfrm>
            <a:off x="3450431" y="3979069"/>
            <a:ext cx="224313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055A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OUTCOME</a:t>
            </a:r>
            <a:endParaRPr lang="en-US" sz="485" dirty="0"/>
          </a:p>
        </p:txBody>
      </p:sp>
      <p:sp>
        <p:nvSpPr>
          <p:cNvPr id="41" name="Text 38"/>
          <p:cNvSpPr/>
          <p:nvPr/>
        </p:nvSpPr>
        <p:spPr>
          <a:xfrm>
            <a:off x="3450431" y="4091583"/>
            <a:ext cx="2243138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35% sales growth delivered.</a:t>
            </a:r>
            <a:endParaRPr lang="en-US" sz="634" dirty="0"/>
          </a:p>
        </p:txBody>
      </p:sp>
      <p:sp>
        <p:nvSpPr>
          <p:cNvPr id="42" name="Shape 39"/>
          <p:cNvSpPr/>
          <p:nvPr/>
        </p:nvSpPr>
        <p:spPr>
          <a:xfrm>
            <a:off x="6000750" y="2831604"/>
            <a:ext cx="2571750" cy="1533227"/>
          </a:xfrm>
          <a:prstGeom prst="rect">
            <a:avLst/>
          </a:prstGeom>
          <a:solidFill>
            <a:srgbClr val="F8F9F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3" name="Shape 40"/>
          <p:cNvSpPr/>
          <p:nvPr/>
        </p:nvSpPr>
        <p:spPr>
          <a:xfrm>
            <a:off x="6000750" y="2831604"/>
            <a:ext cx="2571750" cy="28575"/>
          </a:xfrm>
          <a:prstGeom prst="rect">
            <a:avLst/>
          </a:prstGeom>
          <a:solidFill>
            <a:srgbClr val="0055A4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4" name="Text 41"/>
          <p:cNvSpPr/>
          <p:nvPr/>
        </p:nvSpPr>
        <p:spPr>
          <a:xfrm>
            <a:off x="6107906" y="2938760"/>
            <a:ext cx="2357438" cy="176808"/>
          </a:xfrm>
          <a:prstGeom prst="rect">
            <a:avLst/>
          </a:prstGeom>
          <a:noFill/>
          <a:ln/>
        </p:spPr>
        <p:txBody>
          <a:bodyPr wrap="none" lIns="0" tIns="0" rIns="0" bIns="42545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00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Spurt! (Yorubasiti)</a:t>
            </a:r>
            <a:endParaRPr lang="en-US" sz="784" dirty="0"/>
          </a:p>
        </p:txBody>
      </p:sp>
      <p:sp>
        <p:nvSpPr>
          <p:cNvPr id="45" name="Text 42"/>
          <p:cNvSpPr/>
          <p:nvPr/>
        </p:nvSpPr>
        <p:spPr>
          <a:xfrm>
            <a:off x="6107906" y="3151287"/>
            <a:ext cx="2357438" cy="713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21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Go-to-market strategy for niche streaming platform launch.</a:t>
            </a:r>
            <a:endParaRPr lang="en-US" sz="621" dirty="0"/>
          </a:p>
        </p:txBody>
      </p:sp>
      <p:sp>
        <p:nvSpPr>
          <p:cNvPr id="46" name="Shape 43"/>
          <p:cNvSpPr/>
          <p:nvPr/>
        </p:nvSpPr>
        <p:spPr>
          <a:xfrm>
            <a:off x="6107906" y="3921919"/>
            <a:ext cx="2357438" cy="335756"/>
          </a:xfrm>
          <a:prstGeom prst="rect">
            <a:avLst/>
          </a:prstGeom>
          <a:solidFill>
            <a:srgbClr val="E6F0F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7" name="Text 44"/>
          <p:cNvSpPr/>
          <p:nvPr/>
        </p:nvSpPr>
        <p:spPr>
          <a:xfrm>
            <a:off x="6165056" y="3979069"/>
            <a:ext cx="2243138" cy="982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700"/>
              </a:lnSpc>
              <a:buNone/>
            </a:pPr>
            <a:r>
              <a:rPr lang="en-US" sz="485" b="1" dirty="0">
                <a:solidFill>
                  <a:srgbClr val="0055A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OUTCOME</a:t>
            </a:r>
            <a:endParaRPr lang="en-US" sz="485" dirty="0"/>
          </a:p>
        </p:txBody>
      </p:sp>
      <p:sp>
        <p:nvSpPr>
          <p:cNvPr id="48" name="Text 45"/>
          <p:cNvSpPr/>
          <p:nvPr/>
        </p:nvSpPr>
        <p:spPr>
          <a:xfrm>
            <a:off x="6165056" y="4091583"/>
            <a:ext cx="2243138" cy="10894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 entry plan executed.</a:t>
            </a:r>
            <a:endParaRPr lang="en-US" sz="634" dirty="0"/>
          </a:p>
        </p:txBody>
      </p:sp>
      <p:sp>
        <p:nvSpPr>
          <p:cNvPr id="49" name="Shape 46"/>
          <p:cNvSpPr/>
          <p:nvPr/>
        </p:nvSpPr>
        <p:spPr>
          <a:xfrm>
            <a:off x="571500" y="4507706"/>
            <a:ext cx="8001000" cy="421481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5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4654153"/>
            <a:ext cx="160734" cy="128588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982266" y="4642545"/>
            <a:ext cx="1884164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Executive Training Engagements</a:t>
            </a:r>
            <a:endParaRPr lang="en-US" sz="885" dirty="0"/>
          </a:p>
        </p:txBody>
      </p:sp>
      <p:sp>
        <p:nvSpPr>
          <p:cNvPr id="52" name="Shape 48"/>
          <p:cNvSpPr/>
          <p:nvPr/>
        </p:nvSpPr>
        <p:spPr>
          <a:xfrm>
            <a:off x="4357688" y="4614863"/>
            <a:ext cx="878681" cy="207169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3" name="Text 49"/>
          <p:cNvSpPr/>
          <p:nvPr/>
        </p:nvSpPr>
        <p:spPr>
          <a:xfrm>
            <a:off x="4357688" y="4614863"/>
            <a:ext cx="878681" cy="207169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QORAY Mobility</a:t>
            </a:r>
            <a:endParaRPr lang="en-US" sz="727" dirty="0"/>
          </a:p>
        </p:txBody>
      </p:sp>
      <p:sp>
        <p:nvSpPr>
          <p:cNvPr id="54" name="Shape 50"/>
          <p:cNvSpPr/>
          <p:nvPr/>
        </p:nvSpPr>
        <p:spPr>
          <a:xfrm>
            <a:off x="5379244" y="4614863"/>
            <a:ext cx="1003697" cy="207169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5" name="Text 51"/>
          <p:cNvSpPr/>
          <p:nvPr/>
        </p:nvSpPr>
        <p:spPr>
          <a:xfrm>
            <a:off x="5379244" y="4614863"/>
            <a:ext cx="1003697" cy="207169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Linkage Assurance</a:t>
            </a:r>
            <a:endParaRPr lang="en-US" sz="727" dirty="0"/>
          </a:p>
        </p:txBody>
      </p:sp>
      <p:sp>
        <p:nvSpPr>
          <p:cNvPr id="56" name="Shape 52"/>
          <p:cNvSpPr/>
          <p:nvPr/>
        </p:nvSpPr>
        <p:spPr>
          <a:xfrm>
            <a:off x="6525816" y="4614863"/>
            <a:ext cx="926902" cy="207169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7" name="Text 53"/>
          <p:cNvSpPr/>
          <p:nvPr/>
        </p:nvSpPr>
        <p:spPr>
          <a:xfrm>
            <a:off x="6525816" y="4614863"/>
            <a:ext cx="926902" cy="207169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Bowagate Global</a:t>
            </a:r>
            <a:endParaRPr lang="en-US" sz="727" dirty="0"/>
          </a:p>
        </p:txBody>
      </p:sp>
      <p:sp>
        <p:nvSpPr>
          <p:cNvPr id="58" name="Shape 54"/>
          <p:cNvSpPr/>
          <p:nvPr/>
        </p:nvSpPr>
        <p:spPr>
          <a:xfrm>
            <a:off x="7595592" y="4614863"/>
            <a:ext cx="798314" cy="207169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9" name="Text 55"/>
          <p:cNvSpPr/>
          <p:nvPr/>
        </p:nvSpPr>
        <p:spPr>
          <a:xfrm>
            <a:off x="7595592" y="4614863"/>
            <a:ext cx="798314" cy="207169"/>
          </a:xfrm>
          <a:prstGeom prst="rect">
            <a:avLst/>
          </a:prstGeom>
          <a:noFill/>
          <a:ln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SourceIN BPO</a:t>
            </a:r>
            <a:endParaRPr lang="en-US" sz="727" dirty="0"/>
          </a:p>
        </p:txBody>
      </p:sp>
      <p:sp>
        <p:nvSpPr>
          <p:cNvPr id="60" name="Text 56"/>
          <p:cNvSpPr/>
          <p:nvPr/>
        </p:nvSpPr>
        <p:spPr>
          <a:xfrm>
            <a:off x="571500" y="4827389"/>
            <a:ext cx="96441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04</a:t>
            </a:r>
            <a:endParaRPr lang="en-US" sz="621" dirty="0"/>
          </a:p>
        </p:txBody>
      </p:sp>
      <p:sp>
        <p:nvSpPr>
          <p:cNvPr id="61" name="Text 57"/>
          <p:cNvSpPr/>
          <p:nvPr/>
        </p:nvSpPr>
        <p:spPr>
          <a:xfrm>
            <a:off x="7384852" y="4827389"/>
            <a:ext cx="1187648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1" dirty="0">
                <a:solidFill>
                  <a:srgbClr val="9999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REVAMP CONSULTING LLC</a:t>
            </a:r>
            <a:endParaRPr lang="en-US" sz="62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8625"/>
            <a:ext cx="9144000" cy="70723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" name="Shape 1"/>
          <p:cNvSpPr/>
          <p:nvPr/>
        </p:nvSpPr>
        <p:spPr>
          <a:xfrm>
            <a:off x="0" y="428625"/>
            <a:ext cx="71438" cy="707231"/>
          </a:xfrm>
          <a:prstGeom prst="rect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5" name="Text 2"/>
          <p:cNvSpPr/>
          <p:nvPr/>
        </p:nvSpPr>
        <p:spPr>
          <a:xfrm>
            <a:off x="571500" y="428625"/>
            <a:ext cx="8001000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00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ENGAGEMENT MODELS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571500" y="901898"/>
            <a:ext cx="80010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66666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Flexible Structures Tailored to Your Needs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571500" y="1421606"/>
            <a:ext cx="1839516" cy="3721894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8" name="Shape 5"/>
          <p:cNvSpPr/>
          <p:nvPr/>
        </p:nvSpPr>
        <p:spPr>
          <a:xfrm>
            <a:off x="571500" y="1421606"/>
            <a:ext cx="1839516" cy="42863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9" name="Shape 6"/>
          <p:cNvSpPr/>
          <p:nvPr/>
        </p:nvSpPr>
        <p:spPr>
          <a:xfrm>
            <a:off x="1205508" y="1635919"/>
            <a:ext cx="571500" cy="5715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0523" y="1793081"/>
            <a:ext cx="321469" cy="2571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7770" y="2386013"/>
            <a:ext cx="1526977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RETAINED ADVISORY</a:t>
            </a:r>
            <a:endParaRPr lang="en-US" sz="1090" dirty="0"/>
          </a:p>
        </p:txBody>
      </p:sp>
      <p:sp>
        <p:nvSpPr>
          <p:cNvPr id="12" name="Text 8"/>
          <p:cNvSpPr/>
          <p:nvPr/>
        </p:nvSpPr>
        <p:spPr>
          <a:xfrm>
            <a:off x="714375" y="2677120"/>
            <a:ext cx="1553766" cy="1566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Ongoing strategic guidance and sounding board services. Monthly retainer ensures priority access for critical decisions.</a:t>
            </a:r>
            <a:endParaRPr lang="en-US" sz="780" dirty="0"/>
          </a:p>
        </p:txBody>
      </p:sp>
      <p:sp>
        <p:nvSpPr>
          <p:cNvPr id="13" name="Shape 9"/>
          <p:cNvSpPr/>
          <p:nvPr/>
        </p:nvSpPr>
        <p:spPr>
          <a:xfrm>
            <a:off x="714375" y="4421981"/>
            <a:ext cx="1553766" cy="507206"/>
          </a:xfrm>
          <a:prstGeom prst="rect">
            <a:avLst/>
          </a:prstGeom>
          <a:solidFill>
            <a:srgbClr val="E6EFF7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4" name="Text 10"/>
          <p:cNvSpPr/>
          <p:nvPr/>
        </p:nvSpPr>
        <p:spPr>
          <a:xfrm>
            <a:off x="821531" y="4529138"/>
            <a:ext cx="1339453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6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IDEAL FOR</a:t>
            </a:r>
            <a:endParaRPr lang="en-US" sz="584" dirty="0"/>
          </a:p>
        </p:txBody>
      </p:sp>
      <p:sp>
        <p:nvSpPr>
          <p:cNvPr id="15" name="Text 11"/>
          <p:cNvSpPr/>
          <p:nvPr/>
        </p:nvSpPr>
        <p:spPr>
          <a:xfrm>
            <a:off x="926902" y="4688086"/>
            <a:ext cx="112871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Boards, CEOs &amp; Founders</a:t>
            </a:r>
            <a:endParaRPr lang="en-US" sz="634" dirty="0"/>
          </a:p>
        </p:txBody>
      </p:sp>
      <p:sp>
        <p:nvSpPr>
          <p:cNvPr id="16" name="Shape 12"/>
          <p:cNvSpPr/>
          <p:nvPr/>
        </p:nvSpPr>
        <p:spPr>
          <a:xfrm>
            <a:off x="2625328" y="1421606"/>
            <a:ext cx="1839516" cy="3721894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7" name="Shape 13"/>
          <p:cNvSpPr/>
          <p:nvPr/>
        </p:nvSpPr>
        <p:spPr>
          <a:xfrm>
            <a:off x="2625328" y="1421606"/>
            <a:ext cx="1839516" cy="42863"/>
          </a:xfrm>
          <a:prstGeom prst="rect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18" name="Shape 14"/>
          <p:cNvSpPr/>
          <p:nvPr/>
        </p:nvSpPr>
        <p:spPr>
          <a:xfrm>
            <a:off x="3259336" y="1635919"/>
            <a:ext cx="571500" cy="5715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0425" y="1793081"/>
            <a:ext cx="289322" cy="2571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933402" y="2386013"/>
            <a:ext cx="1223367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PROJECT-BASED</a:t>
            </a:r>
            <a:endParaRPr lang="en-US" sz="1090" dirty="0"/>
          </a:p>
        </p:txBody>
      </p:sp>
      <p:sp>
        <p:nvSpPr>
          <p:cNvPr id="21" name="Text 16"/>
          <p:cNvSpPr/>
          <p:nvPr/>
        </p:nvSpPr>
        <p:spPr>
          <a:xfrm>
            <a:off x="2768203" y="2677120"/>
            <a:ext cx="1553766" cy="1566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Defined scope, timeline, and deliverables for specific initiatives like market entry, GTM strategy, or financial modeling.</a:t>
            </a:r>
            <a:endParaRPr lang="en-US" sz="780" dirty="0"/>
          </a:p>
        </p:txBody>
      </p:sp>
      <p:sp>
        <p:nvSpPr>
          <p:cNvPr id="22" name="Shape 17"/>
          <p:cNvSpPr/>
          <p:nvPr/>
        </p:nvSpPr>
        <p:spPr>
          <a:xfrm>
            <a:off x="2768203" y="4421981"/>
            <a:ext cx="1553766" cy="507206"/>
          </a:xfrm>
          <a:prstGeom prst="rect">
            <a:avLst/>
          </a:prstGeom>
          <a:solidFill>
            <a:srgbClr val="E6EFF7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3" name="Text 18"/>
          <p:cNvSpPr/>
          <p:nvPr/>
        </p:nvSpPr>
        <p:spPr>
          <a:xfrm>
            <a:off x="2875359" y="4529138"/>
            <a:ext cx="1339453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6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IDEAL FOR</a:t>
            </a:r>
            <a:endParaRPr lang="en-US" sz="584" dirty="0"/>
          </a:p>
        </p:txBody>
      </p:sp>
      <p:sp>
        <p:nvSpPr>
          <p:cNvPr id="24" name="Text 19"/>
          <p:cNvSpPr/>
          <p:nvPr/>
        </p:nvSpPr>
        <p:spPr>
          <a:xfrm>
            <a:off x="2928045" y="4688086"/>
            <a:ext cx="123408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Specific Strategic Initiatives</a:t>
            </a:r>
            <a:endParaRPr lang="en-US" sz="634" dirty="0"/>
          </a:p>
        </p:txBody>
      </p:sp>
      <p:sp>
        <p:nvSpPr>
          <p:cNvPr id="25" name="Shape 20"/>
          <p:cNvSpPr/>
          <p:nvPr/>
        </p:nvSpPr>
        <p:spPr>
          <a:xfrm>
            <a:off x="4679156" y="1421606"/>
            <a:ext cx="1839516" cy="3721894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6" name="Shape 21"/>
          <p:cNvSpPr/>
          <p:nvPr/>
        </p:nvSpPr>
        <p:spPr>
          <a:xfrm>
            <a:off x="4679156" y="1421606"/>
            <a:ext cx="1839516" cy="42863"/>
          </a:xfrm>
          <a:prstGeom prst="rect">
            <a:avLst/>
          </a:prstGeom>
          <a:solidFill>
            <a:srgbClr val="003366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27" name="Shape 22"/>
          <p:cNvSpPr/>
          <p:nvPr/>
        </p:nvSpPr>
        <p:spPr>
          <a:xfrm>
            <a:off x="5313164" y="1635919"/>
            <a:ext cx="571500" cy="5715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1793081"/>
            <a:ext cx="225028" cy="25717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822031" y="2386013"/>
            <a:ext cx="1553766" cy="367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FRACTIONAL C-SUITE</a:t>
            </a:r>
            <a:endParaRPr lang="en-US" sz="1090" dirty="0"/>
          </a:p>
        </p:txBody>
      </p:sp>
      <p:sp>
        <p:nvSpPr>
          <p:cNvPr id="30" name="Text 24"/>
          <p:cNvSpPr/>
          <p:nvPr/>
        </p:nvSpPr>
        <p:spPr>
          <a:xfrm>
            <a:off x="4822031" y="2861072"/>
            <a:ext cx="1553766" cy="1382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Part-time executive leadership (CSO/COO) to drive operations and strategy without the full-time headcount cost.</a:t>
            </a:r>
            <a:endParaRPr lang="en-US" sz="780" dirty="0"/>
          </a:p>
        </p:txBody>
      </p:sp>
      <p:sp>
        <p:nvSpPr>
          <p:cNvPr id="31" name="Shape 25"/>
          <p:cNvSpPr/>
          <p:nvPr/>
        </p:nvSpPr>
        <p:spPr>
          <a:xfrm>
            <a:off x="4822031" y="4421981"/>
            <a:ext cx="1553766" cy="507206"/>
          </a:xfrm>
          <a:prstGeom prst="rect">
            <a:avLst/>
          </a:prstGeom>
          <a:solidFill>
            <a:srgbClr val="E6EFF7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2" name="Text 26"/>
          <p:cNvSpPr/>
          <p:nvPr/>
        </p:nvSpPr>
        <p:spPr>
          <a:xfrm>
            <a:off x="4929188" y="4529138"/>
            <a:ext cx="1339453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6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IDEAL FOR</a:t>
            </a:r>
            <a:endParaRPr lang="en-US" sz="584" dirty="0"/>
          </a:p>
        </p:txBody>
      </p:sp>
      <p:sp>
        <p:nvSpPr>
          <p:cNvPr id="33" name="Text 27"/>
          <p:cNvSpPr/>
          <p:nvPr/>
        </p:nvSpPr>
        <p:spPr>
          <a:xfrm>
            <a:off x="4997946" y="4688086"/>
            <a:ext cx="120193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Scaling Growth Companies</a:t>
            </a:r>
            <a:endParaRPr lang="en-US" sz="634" dirty="0"/>
          </a:p>
        </p:txBody>
      </p:sp>
      <p:sp>
        <p:nvSpPr>
          <p:cNvPr id="34" name="Shape 28"/>
          <p:cNvSpPr/>
          <p:nvPr/>
        </p:nvSpPr>
        <p:spPr>
          <a:xfrm>
            <a:off x="6732984" y="1421606"/>
            <a:ext cx="1839516" cy="3721894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5" name="Shape 29"/>
          <p:cNvSpPr/>
          <p:nvPr/>
        </p:nvSpPr>
        <p:spPr>
          <a:xfrm>
            <a:off x="6732984" y="1421606"/>
            <a:ext cx="1839516" cy="42863"/>
          </a:xfrm>
          <a:prstGeom prst="rect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36" name="Shape 30"/>
          <p:cNvSpPr/>
          <p:nvPr/>
        </p:nvSpPr>
        <p:spPr>
          <a:xfrm>
            <a:off x="7366992" y="1635919"/>
            <a:ext cx="571500" cy="5715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2008" y="1793081"/>
            <a:ext cx="321469" cy="257175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172325" y="2386013"/>
            <a:ext cx="960834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336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WORKSHOPS</a:t>
            </a:r>
            <a:endParaRPr lang="en-US" sz="1090" dirty="0"/>
          </a:p>
        </p:txBody>
      </p:sp>
      <p:sp>
        <p:nvSpPr>
          <p:cNvPr id="39" name="Text 32"/>
          <p:cNvSpPr/>
          <p:nvPr/>
        </p:nvSpPr>
        <p:spPr>
          <a:xfrm>
            <a:off x="6875859" y="2677120"/>
            <a:ext cx="1553766" cy="1566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780" dirty="0">
                <a:solidFill>
                  <a:srgbClr val="55555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Intensive executive sessions on strategy, financial modeling, and leadership to build internal capacity.</a:t>
            </a:r>
            <a:endParaRPr lang="en-US" sz="780" dirty="0"/>
          </a:p>
        </p:txBody>
      </p:sp>
      <p:sp>
        <p:nvSpPr>
          <p:cNvPr id="40" name="Shape 33"/>
          <p:cNvSpPr/>
          <p:nvPr/>
        </p:nvSpPr>
        <p:spPr>
          <a:xfrm>
            <a:off x="6875859" y="4421981"/>
            <a:ext cx="1553766" cy="507206"/>
          </a:xfrm>
          <a:prstGeom prst="rect">
            <a:avLst/>
          </a:prstGeom>
          <a:solidFill>
            <a:srgbClr val="E6EFF7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41" name="Text 34"/>
          <p:cNvSpPr/>
          <p:nvPr/>
        </p:nvSpPr>
        <p:spPr>
          <a:xfrm>
            <a:off x="6983016" y="4529138"/>
            <a:ext cx="1339453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F66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IDEAL FOR</a:t>
            </a:r>
            <a:endParaRPr lang="en-US" sz="584" dirty="0"/>
          </a:p>
        </p:txBody>
      </p:sp>
      <p:sp>
        <p:nvSpPr>
          <p:cNvPr id="42" name="Text 35"/>
          <p:cNvSpPr/>
          <p:nvPr/>
        </p:nvSpPr>
        <p:spPr>
          <a:xfrm>
            <a:off x="7246441" y="4688086"/>
            <a:ext cx="81260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34" b="1" dirty="0">
                <a:solidFill>
                  <a:srgbClr val="33333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Leadership Teams</a:t>
            </a:r>
            <a:endParaRPr lang="en-US" sz="634" dirty="0"/>
          </a:p>
        </p:txBody>
      </p:sp>
      <p:sp>
        <p:nvSpPr>
          <p:cNvPr id="43" name="Text 36"/>
          <p:cNvSpPr/>
          <p:nvPr/>
        </p:nvSpPr>
        <p:spPr>
          <a:xfrm>
            <a:off x="571500" y="4827389"/>
            <a:ext cx="96441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05</a:t>
            </a:r>
            <a:endParaRPr lang="en-US" sz="621" dirty="0"/>
          </a:p>
        </p:txBody>
      </p:sp>
      <p:sp>
        <p:nvSpPr>
          <p:cNvPr id="44" name="Text 37"/>
          <p:cNvSpPr/>
          <p:nvPr/>
        </p:nvSpPr>
        <p:spPr>
          <a:xfrm>
            <a:off x="7384852" y="4827389"/>
            <a:ext cx="1187648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kern="0" spc="1" dirty="0">
                <a:solidFill>
                  <a:srgbClr val="99999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REVAMP CONSULTING LLC</a:t>
            </a:r>
            <a:endParaRPr lang="en-US" sz="62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476077" y="392739"/>
            <a:ext cx="6191845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READY TO TRANSFORM
YOUR BUSINESS?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1476077" y="1541431"/>
            <a:ext cx="6191845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486" dirty="0">
                <a:solidFill>
                  <a:srgbClr val="E0E0E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Let's discuss how Revamp Consulting can drive your strategic growth.</a:t>
            </a:r>
            <a:endParaRPr lang="en-US" sz="1486" dirty="0"/>
          </a:p>
        </p:txBody>
      </p:sp>
      <p:sp>
        <p:nvSpPr>
          <p:cNvPr id="5" name="Shape 2"/>
          <p:cNvSpPr/>
          <p:nvPr/>
        </p:nvSpPr>
        <p:spPr>
          <a:xfrm>
            <a:off x="2569964" y="2243305"/>
            <a:ext cx="4004072" cy="2507456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6" name="Shape 3"/>
          <p:cNvSpPr/>
          <p:nvPr/>
        </p:nvSpPr>
        <p:spPr>
          <a:xfrm>
            <a:off x="2569964" y="2243305"/>
            <a:ext cx="35719" cy="2507456"/>
          </a:xfrm>
          <a:prstGeom prst="rect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NG"/>
          </a:p>
        </p:txBody>
      </p:sp>
      <p:sp>
        <p:nvSpPr>
          <p:cNvPr id="7" name="Shape 4"/>
          <p:cNvSpPr/>
          <p:nvPr/>
        </p:nvSpPr>
        <p:spPr>
          <a:xfrm>
            <a:off x="3016448" y="2561202"/>
            <a:ext cx="285750" cy="285750"/>
          </a:xfrm>
          <a:prstGeom prst="ellipse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3066" y="2639783"/>
            <a:ext cx="112514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45073" y="2529055"/>
            <a:ext cx="12215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PRINCIPAL STRATEGIST</a:t>
            </a:r>
            <a:endParaRPr lang="en-US" sz="727" dirty="0"/>
          </a:p>
        </p:txBody>
      </p:sp>
      <p:sp>
        <p:nvSpPr>
          <p:cNvPr id="10" name="Text 6"/>
          <p:cNvSpPr/>
          <p:nvPr/>
        </p:nvSpPr>
        <p:spPr>
          <a:xfrm>
            <a:off x="3445073" y="2679074"/>
            <a:ext cx="211812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Adekunle Olusanya Oluwole</a:t>
            </a:r>
            <a:endParaRPr lang="en-US" sz="1193" dirty="0"/>
          </a:p>
        </p:txBody>
      </p:sp>
      <p:sp>
        <p:nvSpPr>
          <p:cNvPr id="11" name="Shape 7"/>
          <p:cNvSpPr/>
          <p:nvPr/>
        </p:nvSpPr>
        <p:spPr>
          <a:xfrm>
            <a:off x="3016448" y="3089839"/>
            <a:ext cx="285750" cy="285750"/>
          </a:xfrm>
          <a:prstGeom prst="ellipse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030" y="3168421"/>
            <a:ext cx="128588" cy="1285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45073" y="3057692"/>
            <a:ext cx="7929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CALL DIRECTLY</a:t>
            </a:r>
            <a:endParaRPr lang="en-US" sz="727" dirty="0"/>
          </a:p>
        </p:txBody>
      </p:sp>
      <p:sp>
        <p:nvSpPr>
          <p:cNvPr id="14" name="Text 9"/>
          <p:cNvSpPr/>
          <p:nvPr/>
        </p:nvSpPr>
        <p:spPr>
          <a:xfrm>
            <a:off x="3522707" y="3207711"/>
            <a:ext cx="1344919" cy="1938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+234 803 4653 210</a:t>
            </a:r>
            <a:endParaRPr lang="en-US" sz="1193" dirty="0"/>
          </a:p>
        </p:txBody>
      </p:sp>
      <p:sp>
        <p:nvSpPr>
          <p:cNvPr id="15" name="Shape 10"/>
          <p:cNvSpPr/>
          <p:nvPr/>
        </p:nvSpPr>
        <p:spPr>
          <a:xfrm>
            <a:off x="3016448" y="3618477"/>
            <a:ext cx="285750" cy="285750"/>
          </a:xfrm>
          <a:prstGeom prst="ellipse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5030" y="3697058"/>
            <a:ext cx="128588" cy="1285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445073" y="3586330"/>
            <a:ext cx="5000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EMAIL US</a:t>
            </a:r>
            <a:endParaRPr lang="en-US" sz="727" dirty="0"/>
          </a:p>
        </p:txBody>
      </p:sp>
      <p:sp>
        <p:nvSpPr>
          <p:cNvPr id="18" name="Text 12"/>
          <p:cNvSpPr/>
          <p:nvPr/>
        </p:nvSpPr>
        <p:spPr>
          <a:xfrm>
            <a:off x="3445073" y="3736349"/>
            <a:ext cx="242530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adekunle.olusanya@yahoo.com</a:t>
            </a:r>
            <a:endParaRPr lang="en-US" sz="1193" dirty="0"/>
          </a:p>
        </p:txBody>
      </p:sp>
      <p:sp>
        <p:nvSpPr>
          <p:cNvPr id="19" name="Shape 13"/>
          <p:cNvSpPr/>
          <p:nvPr/>
        </p:nvSpPr>
        <p:spPr>
          <a:xfrm>
            <a:off x="3016448" y="4147114"/>
            <a:ext cx="285750" cy="285750"/>
          </a:xfrm>
          <a:prstGeom prst="ellipse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NG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03066" y="4225696"/>
            <a:ext cx="112514" cy="1285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445073" y="4114967"/>
            <a:ext cx="125551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kern="0" spc="1" dirty="0">
                <a:solidFill>
                  <a:srgbClr val="CCCCC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CONNECT ON LINKEDIN</a:t>
            </a:r>
            <a:endParaRPr lang="en-US" sz="727" dirty="0"/>
          </a:p>
        </p:txBody>
      </p:sp>
      <p:sp>
        <p:nvSpPr>
          <p:cNvPr id="22" name="Text 15"/>
          <p:cNvSpPr/>
          <p:nvPr/>
        </p:nvSpPr>
        <p:spPr>
          <a:xfrm>
            <a:off x="3445073" y="4264986"/>
            <a:ext cx="268247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linkedin.com/in/adekunle-olusanya</a:t>
            </a:r>
            <a:endParaRPr lang="en-US" sz="1193" dirty="0"/>
          </a:p>
        </p:txBody>
      </p:sp>
      <p:sp>
        <p:nvSpPr>
          <p:cNvPr id="23" name="Text 16"/>
          <p:cNvSpPr/>
          <p:nvPr/>
        </p:nvSpPr>
        <p:spPr>
          <a:xfrm>
            <a:off x="3255764" y="4722019"/>
            <a:ext cx="263247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727" kern="0" spc="2" dirty="0">
                <a:solidFill>
                  <a:srgbClr val="668CB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REVAMP CONSULTING LLC • LAGOS, NIGERIA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608</Words>
  <Application>Microsoft Office PowerPoint</Application>
  <PresentationFormat>On-screen Show (16:9)</PresentationFormat>
  <Paragraphs>114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Open Sans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Adekunle Olusanya</cp:lastModifiedBy>
  <cp:revision>2</cp:revision>
  <dcterms:created xsi:type="dcterms:W3CDTF">2026-03-09T00:47:54Z</dcterms:created>
  <dcterms:modified xsi:type="dcterms:W3CDTF">2026-03-09T00:50:15Z</dcterms:modified>
</cp:coreProperties>
</file>